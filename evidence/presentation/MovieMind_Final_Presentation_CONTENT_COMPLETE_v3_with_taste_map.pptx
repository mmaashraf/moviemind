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  <p:sldId id="322" r:id="rId16"/>
    <p:sldId id="323" r:id="rId17"/>
    <p:sldId id="324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AI/ML for Industry Capstone | IIT Delhi CEP</a:t>
            </a:r>
            <a:endParaRPr lang="en-US"/>
          </a:p>
          <a:p>
            <a:pPr>
              <a:defRPr sz="1800"/>
            </a:pPr>
            <a:r>
              <a:t>From data pipeline to explainable deployment: Baseline/ML/DL models, API, UI, and NLP layer.</a:t>
            </a:r>
          </a:p>
          <a:p>
            <a:pPr>
              <a:defRPr sz="1800"/>
            </a:pPr>
            <a:r>
              <a:t>Author: Ashraf | Date: Apr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t>MovieMind: End-to-End Movie Recommendation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this project</a:t>
            </a:r>
            <a:endParaRPr lang="en-US" dirty="0"/>
          </a:p>
          <a:p>
            <a:pPr>
              <a:defRPr sz="1600"/>
            </a:pPr>
            <a:r>
              <a:t>Recommendation systems face sparsity, long-tail catalogs, and cold-start constraints.</a:t>
            </a:r>
          </a:p>
          <a:p>
            <a:pPr>
              <a:defRPr sz="1600"/>
            </a:pPr>
            <a:r>
              <a:t>Capstone goal was to build a full lifecycle system: accurate, explainable, reproducible, and demo-ready.</a:t>
            </a:r>
          </a:p>
          <a:p>
            <a:pPr>
              <a:defRPr sz="1600"/>
            </a:pPr>
            <a:r>
              <a:t>Dataset: MovieLens 1M with ratings + user/movie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t>Business + engineering objective</a:t>
            </a:r>
            <a:endParaRPr lang="en-US" dirty="0"/>
          </a:p>
          <a:p>
            <a:pPr>
              <a:defRPr sz="1600"/>
            </a:pPr>
            <a:r>
              <a:t>Predict user-movie ratings and generate top-N recommendations.</a:t>
            </a:r>
          </a:p>
          <a:p>
            <a:pPr>
              <a:defRPr sz="1600"/>
            </a:pPr>
            <a:r>
              <a:t>Compare Baseline, ML, DL, and Tuned DL with leakage-safe time-based evaluation.</a:t>
            </a:r>
          </a:p>
          <a:p>
            <a:pPr>
              <a:defRPr sz="1600"/>
            </a:pPr>
            <a:r>
              <a:t>Expose inspectable model metadata and recommendation logic in API + Streamlit UI.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Lifecycle implemented</a:t>
            </a:r>
            <a:endParaRPr lang="en-US" dirty="0"/>
          </a:p>
          <a:p>
            <a:pPr>
              <a:defRPr sz="1500"/>
            </a:pPr>
            <a:r>
              <a:t>Phases 1-8 completed: setup -&gt; EDA -&gt; features -&gt; ML -&gt; DL -&gt; post-analysis -&gt; API -&gt; UI/agent.</a:t>
            </a:r>
          </a:p>
          <a:p>
            <a:pPr>
              <a:defRPr sz="1500"/>
            </a:pPr>
            <a:r>
              <a:t>Critical modeling choice: strict time-based split to prevent leakage.</a:t>
            </a:r>
          </a:p>
          <a:p>
            <a:pPr>
              <a:defRPr sz="1500"/>
            </a:pPr>
            <a:r>
              <a:t>Stack: pandas, scikit-learn, PyTorch, Optuna, FastAPI, Streamlit.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Methodology, Dataset, and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Flow diagram source: evidence/presentation/ai_lifecycle_flow_diagram.md (Mermaid, horizontal LR)</a:t>
            </a:r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1: Model Evaluation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Offline evaluation (time-based split): model-wise RMSE/MAE/time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Outcome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 (Global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Reference floor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Fast + strong baseline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Improves over linear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Champion (best error)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1.1146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0.9307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Below ML champion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Tuned (Optuna + retrained weights)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Trial-based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DL, still behind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Decision: Gradient Boosting selected as primary model due to best RMSE/MAE under leakage-safe evaluation.</a:t>
            </a:r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2: Tuned DL, Explainability, and Diversity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A) Tuned DL best hyperparameters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0.0054401120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0.4431288799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n_units_l0/l1/l2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 / 64 / 32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best_rmse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B) Diversity slider logic in recommendation ranking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3444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Control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Definition / Role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diversity_alpha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control: novelty vs relevance trade-off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adjusted_score = predicted_rating_raw - alpha * overlap_penalty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Debug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predicted_rating_raw, overlap_penalty, adjusted_score, overlap_genres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Higher alpha reduces repetitive genre overlap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feature_importance_to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566160" cy="2213479"/>
          </a:xfrm>
          <a:prstGeom prst="rect">
            <a:avLst/>
          </a:prstGeom>
        </p:spPr>
      </p:pic>
      <p:pic>
        <p:nvPicPr>
          <p:cNvPr id="10" name="Picture 9" descr="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3566160" cy="2297089"/>
          </a:xfrm>
          <a:prstGeom prst="rect">
            <a:avLst/>
          </a:prstGeom>
        </p:spPr>
      </p:pic>
      <p:pic>
        <p:nvPicPr>
          <p:cNvPr id="11" name="Picture 10" descr="tsn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840480"/>
            <a:ext cx="3108960" cy="20025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217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PCA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t-SNE Embeddings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was achieved</a:t>
            </a:r>
            <a:endParaRPr lang="en-US" dirty="0"/>
          </a:p>
          <a:p>
            <a:pPr>
              <a:defRPr sz="1400"/>
            </a:pPr>
            <a:r>
              <a:t>End-to-end lifecycle delivered with reproducible evidence and multi-model serving.</a:t>
            </a:r>
          </a:p>
          <a:p>
            <a:pPr>
              <a:defRPr sz="1400"/>
            </a:pPr>
            <a:r>
              <a:t>Champion model: Gradient Boosting; Tuned DL used for representation/analysis depth.</a:t>
            </a:r>
          </a:p>
          <a:p>
            <a:pPr>
              <a:defRPr sz="1400"/>
            </a:pPr>
            <a:r>
              <a:t>Diversity slider and taste-map added for controllable exploration and explainability.</a:t>
            </a:r>
          </a:p>
          <a:p>
            <a:pPr>
              <a:defRPr sz="1400"/>
            </a:pPr>
            <a:r>
              <a:t>Open item: dedicated cold-start strategy for brand-new users/items (future work).</a:t>
            </a:r>
          </a:p>
          <a:p>
            <a:pPr>
              <a:defRPr sz="1400"/>
            </a:pPr>
            <a:r>
              <a:t>Next: stronger local LLM integration and presentation/demo polish.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Conclusions and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1) Why time-based split? -&gt; Prevents future-to-past leakage and gives honest evaluation.</a:t>
            </a:r>
          </a:p>
          <a:p>
            <a:pPr>
              <a:defRPr sz="1400"/>
            </a:pPr>
            <a:r>
              <a:t>2) Why Gradient Boosting champion? -&gt; Lowest RMSE/MAE among tested models.</a:t>
            </a:r>
          </a:p>
          <a:p>
            <a:pPr>
              <a:defRPr sz="1400"/>
            </a:pPr>
            <a:r>
              <a:t>3) Why keep DL then? -&gt; Better representation artifacts + future personalization extension.</a:t>
            </a:r>
          </a:p>
          <a:p>
            <a:pPr>
              <a:defRPr sz="1400"/>
            </a:pPr>
            <a:r>
              <a:t>4) What does diversity slider do? -&gt; Penalizes genre overlap via alpha-controlled reranking.</a:t>
            </a:r>
          </a:p>
          <a:p>
            <a:pPr>
              <a:defRPr sz="1400"/>
            </a:pPr>
            <a:r>
              <a:t>5) Is cold-start solved? -&gt; Not as dedicated module yet; tracked as future 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(2-minute defense)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Insert screenshot from Streamlit Recommend tab (with selected model, top-N, diversity slider, and result cards).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Evidence: Recommend Page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[PLACEHOLDER IMAGE] Paste Recommend page screenshot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capture screen after clicking Get Recommendations so diversity/taste-map context is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Captured after clicking Get Recommendations with diversity slider set to a non-zero value.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Evidence: Diversity Slider + Taste Map</a:t>
            </a:r>
          </a:p>
        </p:txBody>
      </p:sp>
      <p:pic>
        <p:nvPicPr>
          <p:cNvPr id="4" name="Picture 3" descr="taste_map_after_d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789920" cy="7527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3093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Image source: evidence/presentation/screenshots/taste_map_after_diversity.png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