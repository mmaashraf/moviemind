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87" r:id="rId2"/>
    <p:sldId id="317" r:id="rId3"/>
    <p:sldId id="316" r:id="rId4"/>
    <p:sldId id="318" r:id="rId5"/>
    <p:sldId id="319" r:id="rId6"/>
    <p:sldId id="320" r:id="rId7"/>
    <p:sldId id="321" r:id="rId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D40100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86" autoAdjust="0"/>
    <p:restoredTop sz="95781" autoAdjust="0"/>
  </p:normalViewPr>
  <p:slideViewPr>
    <p:cSldViewPr snapToGrid="0">
      <p:cViewPr varScale="1">
        <p:scale>
          <a:sx n="78" d="100"/>
          <a:sy n="78" d="100"/>
        </p:scale>
        <p:origin x="912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kta Srivastava" userId="6d4a75d3-7b1f-40c6-8592-2342d3548d62" providerId="ADAL" clId="{34B5F09D-6283-4A6F-99CF-73EB0B0C1F6E}"/>
    <pc:docChg chg="modSld">
      <pc:chgData name="Ekta Srivastava" userId="6d4a75d3-7b1f-40c6-8592-2342d3548d62" providerId="ADAL" clId="{34B5F09D-6283-4A6F-99CF-73EB0B0C1F6E}" dt="2024-11-11T05:07:41.611" v="1" actId="20577"/>
      <pc:docMkLst>
        <pc:docMk/>
      </pc:docMkLst>
      <pc:sldChg chg="modSp mod">
        <pc:chgData name="Ekta Srivastava" userId="6d4a75d3-7b1f-40c6-8592-2342d3548d62" providerId="ADAL" clId="{34B5F09D-6283-4A6F-99CF-73EB0B0C1F6E}" dt="2024-11-11T05:07:41.611" v="1" actId="20577"/>
        <pc:sldMkLst>
          <pc:docMk/>
          <pc:sldMk cId="150379076" sldId="287"/>
        </pc:sldMkLst>
        <pc:spChg chg="mod">
          <ac:chgData name="Ekta Srivastava" userId="6d4a75d3-7b1f-40c6-8592-2342d3548d62" providerId="ADAL" clId="{34B5F09D-6283-4A6F-99CF-73EB0B0C1F6E}" dt="2024-11-11T05:07:41.611" v="1" actId="20577"/>
          <ac:spMkLst>
            <pc:docMk/>
            <pc:sldMk cId="150379076" sldId="287"/>
            <ac:spMk id="8" creationId="{D078B105-07B1-0535-6D75-4940D7E6E42A}"/>
          </ac:spMkLst>
        </pc:spChg>
      </pc:sldChg>
    </pc:docChg>
  </pc:docChgLst>
  <pc:docChgLst>
    <pc:chgData name="Manabendra Saharia" userId="372721ec-1061-4aab-aad5-5c82bbad8310" providerId="ADAL" clId="{A7029F6F-5F4A-6C43-B689-7966CF571C5B}"/>
    <pc:docChg chg="addSld delSld modSld">
      <pc:chgData name="Manabendra Saharia" userId="372721ec-1061-4aab-aad5-5c82bbad8310" providerId="ADAL" clId="{A7029F6F-5F4A-6C43-B689-7966CF571C5B}" dt="2023-09-24T06:36:14.649" v="37" actId="2696"/>
      <pc:docMkLst>
        <pc:docMk/>
      </pc:docMkLst>
      <pc:sldChg chg="modSp mod">
        <pc:chgData name="Manabendra Saharia" userId="372721ec-1061-4aab-aad5-5c82bbad8310" providerId="ADAL" clId="{A7029F6F-5F4A-6C43-B689-7966CF571C5B}" dt="2023-09-24T06:36:12.794" v="36" actId="20577"/>
        <pc:sldMkLst>
          <pc:docMk/>
          <pc:sldMk cId="2151882148" sldId="318"/>
        </pc:sldMkLst>
        <pc:spChg chg="mod">
          <ac:chgData name="Manabendra Saharia" userId="372721ec-1061-4aab-aad5-5c82bbad8310" providerId="ADAL" clId="{A7029F6F-5F4A-6C43-B689-7966CF571C5B}" dt="2023-09-24T06:36:12.794" v="36" actId="20577"/>
          <ac:spMkLst>
            <pc:docMk/>
            <pc:sldMk cId="2151882148" sldId="318"/>
            <ac:spMk id="3" creationId="{A18FA631-E5DE-38FB-3631-5247D3FA94E0}"/>
          </ac:spMkLst>
        </pc:spChg>
      </pc:sldChg>
      <pc:sldChg chg="add del">
        <pc:chgData name="Manabendra Saharia" userId="372721ec-1061-4aab-aad5-5c82bbad8310" providerId="ADAL" clId="{A7029F6F-5F4A-6C43-B689-7966CF571C5B}" dt="2023-09-24T06:36:14.649" v="37" actId="2696"/>
        <pc:sldMkLst>
          <pc:docMk/>
          <pc:sldMk cId="2845196125" sldId="322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EDE0417-F54B-42B9-B6DD-E7EE48A4B191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FA6F960-9BDB-45A8-91C0-D79A73FD25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50115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8E55364-5615-482A-B28A-5F5A5326E070}" type="datetimeFigureOut">
              <a:rPr lang="en-IN" smtClean="0"/>
              <a:t>11-11-2024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53E7B7E7-1BE7-4EFB-A4DD-874CE1CF9C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946535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404A0B9-D83A-4722-A17F-DC0228F239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746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6485" y="1105627"/>
            <a:ext cx="11859027" cy="5156627"/>
          </a:xfrm>
        </p:spPr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>
              <a:buFont typeface="Arial" panose="020B0604020202020204" pitchFamily="34" charset="0"/>
              <a:buChar char="•"/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66485" y="218261"/>
            <a:ext cx="10692015" cy="556112"/>
          </a:xfr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pic>
        <p:nvPicPr>
          <p:cNvPr id="9" name="Picture 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027986" y="52448"/>
            <a:ext cx="997527" cy="997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7753256-96F0-BF95-9F7A-0DF59CD83CB3}"/>
              </a:ext>
            </a:extLst>
          </p:cNvPr>
          <p:cNvSpPr/>
          <p:nvPr userDrawn="1"/>
        </p:nvSpPr>
        <p:spPr>
          <a:xfrm>
            <a:off x="0" y="6572250"/>
            <a:ext cx="12192000" cy="280843"/>
          </a:xfrm>
          <a:prstGeom prst="rect">
            <a:avLst/>
          </a:prstGeom>
          <a:solidFill>
            <a:srgbClr val="8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D401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70030" y="6533886"/>
            <a:ext cx="521970" cy="307777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742B7CED-DC51-4976-975C-28F89E3EDFC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2088356" y="6550223"/>
            <a:ext cx="80152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dirty="0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Industry, Continuing Education Programme, Indian Institute of Technology Delhi</a:t>
            </a:r>
            <a:endParaRPr lang="en-IN" sz="1400" b="1" dirty="0">
              <a:solidFill>
                <a:schemeClr val="bg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727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6611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MovieMind: End-to-End Movie Recommendation System</a:t>
            </a:r>
            <a:endParaRPr lang="en-US"/>
          </a:p>
          <a:p>
            <a:pPr>
              <a:defRPr sz="1600"/>
            </a:pPr>
            <a:r>
              <a:t>AI/ML for Industry Capstone | IIT Delhi CEP</a:t>
            </a:r>
          </a:p>
          <a:p>
            <a:pPr>
              <a:defRPr sz="1600"/>
            </a:pPr>
            <a:r>
              <a:t>Author: Ashraf (update if needed) | Date: (update before final submit)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A876980-17C6-FEBF-97F0-4FD8C8D6B2D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2" b="12222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  <a:noFill/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097280" y="844952"/>
            <a:ext cx="10058400" cy="194100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Project Title</a:t>
            </a:r>
            <a:endParaRPr lang="en-GB" sz="5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4A722B18-C738-E15E-ECEA-0838DA7DBB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3752" y="5369748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AI/ML for Industry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Continuing Education Programme</a:t>
            </a:r>
          </a:p>
          <a:p>
            <a:r>
              <a:rPr lang="en-US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Indian Institute of Technology Delhi</a:t>
            </a:r>
          </a:p>
          <a:p>
            <a:endParaRPr lang="en-US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078B105-07B1-0535-6D75-4940D7E6E42A}"/>
              </a:ext>
            </a:extLst>
          </p:cNvPr>
          <p:cNvSpPr txBox="1">
            <a:spLocks/>
          </p:cNvSpPr>
          <p:nvPr/>
        </p:nvSpPr>
        <p:spPr>
          <a:xfrm>
            <a:off x="1097280" y="2785957"/>
            <a:ext cx="10058400" cy="112628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 fontScale="925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Name</a:t>
            </a:r>
          </a:p>
          <a:p>
            <a:endParaRPr lang="en-US" sz="28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US" sz="2200" b="1" dirty="0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X/X</a:t>
            </a:r>
            <a:r>
              <a:rPr lang="en-US" sz="2200" b="1">
                <a:solidFill>
                  <a:srgbClr val="FFFFF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/202X</a:t>
            </a:r>
            <a:endParaRPr lang="en-US" sz="2200" b="1" dirty="0">
              <a:solidFill>
                <a:srgbClr val="FFFFF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3790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Background</a:t>
            </a:r>
            <a:endParaRPr lang="en-US" dirty="0"/>
          </a:p>
          <a:p>
            <a:pPr>
              <a:defRPr sz="1600"/>
            </a:pPr>
            <a:r>
              <a:t>Personalization problem in movie recommendation with sparse user-item data.</a:t>
            </a:r>
          </a:p>
          <a:p>
            <a:pPr>
              <a:defRPr sz="1600"/>
            </a:pPr>
            <a:r>
              <a:t>Need to balance accuracy, explainability, and deployment readiness.</a:t>
            </a:r>
          </a:p>
          <a:p>
            <a:pPr>
              <a:defRPr sz="1600"/>
            </a:pPr>
            <a:r>
              <a:t>Dataset used: MovieLens 1M (ratings + users + movies metadata).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9271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1C8DEAC-54BA-B583-6907-CCE100DD5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  <a:defRPr sz="1800"/>
            </a:pPr>
            <a:r>
              <a:t>Problem Statement</a:t>
            </a:r>
            <a:endParaRPr lang="en-US" dirty="0"/>
          </a:p>
          <a:p>
            <a:pPr>
              <a:defRPr sz="1600"/>
            </a:pPr>
            <a:r>
              <a:t>Build a full-lifecycle recommender: data -&gt; models -&gt; explainability -&gt; API -&gt; UI.</a:t>
            </a:r>
          </a:p>
          <a:p>
            <a:pPr>
              <a:defRPr sz="1600"/>
            </a:pPr>
            <a:r>
              <a:t>Compare Baseline, ML, DL, and tuned DL under leakage-safe evaluation.</a:t>
            </a:r>
          </a:p>
          <a:p>
            <a:pPr>
              <a:defRPr sz="1600"/>
            </a:pPr>
            <a:r>
              <a:t>Expose model inspector, recommendation rationale, and evidence artifacts.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3E50F7-CBC5-7E41-1D6A-EB517912A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EFCA93D-64BC-ADD3-BC93-C7E29E36B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328134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Methodology, Datasets, and Tools used</a:t>
            </a:r>
            <a:endParaRPr lang="en-US" dirty="0"/>
          </a:p>
          <a:p>
            <a:pPr>
              <a:defRPr sz="1600"/>
            </a:pPr>
            <a:r>
              <a:t>Time-based split used to avoid leakage (train on past, test on future).</a:t>
            </a:r>
          </a:p>
          <a:p>
            <a:pPr>
              <a:defRPr sz="1600"/>
            </a:pPr>
            <a:r>
              <a:t>Models: Baseline, Linear/RF/GB, NCF, Tuned NCF (Optuna).</a:t>
            </a:r>
          </a:p>
          <a:p>
            <a:pPr>
              <a:defRPr sz="1600"/>
            </a:pPr>
            <a:r>
              <a:t>Stack: pandas, scikit-learn, PyTorch, FastAPI, Streamlit.</a:t>
            </a:r>
          </a:p>
          <a:p>
            <a:pPr>
              <a:defRPr sz="1600"/>
            </a:pPr>
            <a:r>
              <a:t>[PLACEHOLDER] Insert pipeline diagram image here (data -&gt; train -&gt; serve).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Methodology, Datasets, and Tools used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1882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Results 1</a:t>
            </a:r>
            <a:endParaRPr lang="en-US" dirty="0"/>
          </a:p>
          <a:p>
            <a:pPr>
              <a:defRPr sz="1600"/>
            </a:pPr>
            <a:r>
              <a:t>[PLACEHOLDER TABLE] Paste final model comparison table here (RMSE/MAE/etc).</a:t>
            </a:r>
          </a:p>
          <a:p>
            <a:pPr>
              <a:defRPr sz="1600"/>
            </a:pPr>
            <a:r>
              <a:t>[PLACEHOLDER IMAGE] Insert feature-importance plot here.</a:t>
            </a:r>
          </a:p>
          <a:p>
            <a:pPr>
              <a:defRPr sz="1600"/>
            </a:pPr>
            <a:r>
              <a:t>Decision: choose champion under leakage-safe test protocol.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MANUAL INSERT ZONE: You can replace this box with your final screenshot/table.</a:t>
            </a:r>
          </a:p>
        </p:txBody>
      </p:sp>
    </p:spTree>
    <p:extLst>
      <p:ext uri="{BB962C8B-B14F-4D97-AF65-F5344CB8AC3E}">
        <p14:creationId xmlns:p14="http://schemas.microsoft.com/office/powerpoint/2010/main" val="4271743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Results 2</a:t>
            </a:r>
            <a:endParaRPr lang="en-US" dirty="0"/>
          </a:p>
          <a:p>
            <a:pPr>
              <a:defRPr sz="1600"/>
            </a:pPr>
            <a:r>
              <a:t>[PLACEHOLDER IMAGE] Insert Streamlit Recommend page screenshot here.</a:t>
            </a:r>
          </a:p>
          <a:p>
            <a:pPr>
              <a:defRPr sz="1600"/>
            </a:pPr>
            <a:r>
              <a:t>[PLACEHOLDER IMAGE] Insert Model Inspector screenshot here.</a:t>
            </a:r>
          </a:p>
          <a:p>
            <a:pPr>
              <a:defRPr sz="1600"/>
            </a:pPr>
            <a:r>
              <a:t>[PLACEHOLDER IMAGE] Insert PCA/t-SNE embedding visualization here.</a:t>
            </a:r>
          </a:p>
          <a:p>
            <a:pPr>
              <a:defRPr sz="1600"/>
            </a:pPr>
            <a:r>
              <a:t>[PLACEHOLDER IMAGE] Insert API response (recommend endpoint) screenshot/table here.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Results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MANUAL INSERT ZONE: You can replace this box with your final screenshot/table.</a:t>
            </a:r>
          </a:p>
        </p:txBody>
      </p:sp>
    </p:spTree>
    <p:extLst>
      <p:ext uri="{BB962C8B-B14F-4D97-AF65-F5344CB8AC3E}">
        <p14:creationId xmlns:p14="http://schemas.microsoft.com/office/powerpoint/2010/main" val="2252760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1AD815-5C8E-0B54-E14C-AAF03EAA6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Conclusions</a:t>
            </a:r>
            <a:endParaRPr lang="en-US" dirty="0"/>
          </a:p>
          <a:p>
            <a:pPr>
              <a:defRPr sz="1600"/>
            </a:pPr>
            <a:r>
              <a:t>Delivered: end-to-end recommender with API, UI, and explainability support.</a:t>
            </a:r>
          </a:p>
          <a:p>
            <a:pPr>
              <a:defRPr sz="1600"/>
            </a:pPr>
            <a:r>
              <a:t>Implemented: diversity reranking, model registry, evidence capture workflow.</a:t>
            </a:r>
          </a:p>
          <a:p>
            <a:pPr>
              <a:defRPr sz="1600"/>
            </a:pPr>
            <a:r>
              <a:t>Not yet implemented: dedicated cold-start strategy for brand-new users/items.</a:t>
            </a:r>
          </a:p>
          <a:p>
            <a:pPr>
              <a:defRPr sz="1600"/>
            </a:pPr>
            <a:r>
              <a:t>Future work: cold-start onboarding, full local LLM integration, richer online evaluation.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8FA631-E5DE-38FB-3631-5247D3FA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B8CAAE-9044-8FCD-0B55-1811F156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2B7CED-DC51-4976-975C-28F89E3EDFC9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72918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Garamon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602</TotalTime>
  <Words>42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Garamond</vt:lpstr>
      <vt:lpstr>Lato</vt:lpstr>
      <vt:lpstr>Office Theme</vt:lpstr>
      <vt:lpstr>Project Title</vt:lpstr>
      <vt:lpstr>Background</vt:lpstr>
      <vt:lpstr>Problem Statement</vt:lpstr>
      <vt:lpstr>Methodology, Datasets, and Tools used</vt:lpstr>
      <vt:lpstr>Results 1</vt:lpstr>
      <vt:lpstr>Results 2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RESPOND PROJECT</dc:title>
  <dc:creator>Ankita</dc:creator>
  <cp:lastModifiedBy>Ekta Srivastava</cp:lastModifiedBy>
  <cp:revision>91</cp:revision>
  <cp:lastPrinted>2021-11-16T14:38:43Z</cp:lastPrinted>
  <dcterms:created xsi:type="dcterms:W3CDTF">2016-11-08T06:06:47Z</dcterms:created>
  <dcterms:modified xsi:type="dcterms:W3CDTF">2024-11-11T05:07:44Z</dcterms:modified>
</cp:coreProperties>
</file>