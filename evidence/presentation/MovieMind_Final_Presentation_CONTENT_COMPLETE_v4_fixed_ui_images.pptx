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7" r:id="rId2"/>
    <p:sldId id="317" r:id="rId3"/>
    <p:sldId id="316" r:id="rId4"/>
    <p:sldId id="318" r:id="rId5"/>
    <p:sldId id="319" r:id="rId6"/>
    <p:sldId id="320" r:id="rId7"/>
    <p:sldId id="321" r:id="rId8"/>
    <p:sldId id="322" r:id="rId16"/>
    <p:sldId id="323" r:id="rId17"/>
    <p:sldId id="324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D401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86" autoAdjust="0"/>
    <p:restoredTop sz="95781" autoAdjust="0"/>
  </p:normalViewPr>
  <p:slideViewPr>
    <p:cSldViewPr snapToGrid="0">
      <p:cViewPr varScale="1">
        <p:scale>
          <a:sx n="78" d="100"/>
          <a:sy n="78" d="100"/>
        </p:scale>
        <p:origin x="9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kta Srivastava" userId="6d4a75d3-7b1f-40c6-8592-2342d3548d62" providerId="ADAL" clId="{34B5F09D-6283-4A6F-99CF-73EB0B0C1F6E}"/>
    <pc:docChg chg="modSld">
      <pc:chgData name="Ekta Srivastava" userId="6d4a75d3-7b1f-40c6-8592-2342d3548d62" providerId="ADAL" clId="{34B5F09D-6283-4A6F-99CF-73EB0B0C1F6E}" dt="2024-11-11T05:07:41.611" v="1" actId="20577"/>
      <pc:docMkLst>
        <pc:docMk/>
      </pc:docMkLst>
      <pc:sldChg chg="modSp mod">
        <pc:chgData name="Ekta Srivastava" userId="6d4a75d3-7b1f-40c6-8592-2342d3548d62" providerId="ADAL" clId="{34B5F09D-6283-4A6F-99CF-73EB0B0C1F6E}" dt="2024-11-11T05:07:41.611" v="1" actId="20577"/>
        <pc:sldMkLst>
          <pc:docMk/>
          <pc:sldMk cId="150379076" sldId="287"/>
        </pc:sldMkLst>
        <pc:spChg chg="mod">
          <ac:chgData name="Ekta Srivastava" userId="6d4a75d3-7b1f-40c6-8592-2342d3548d62" providerId="ADAL" clId="{34B5F09D-6283-4A6F-99CF-73EB0B0C1F6E}" dt="2024-11-11T05:07:41.611" v="1" actId="20577"/>
          <ac:spMkLst>
            <pc:docMk/>
            <pc:sldMk cId="150379076" sldId="287"/>
            <ac:spMk id="8" creationId="{D078B105-07B1-0535-6D75-4940D7E6E42A}"/>
          </ac:spMkLst>
        </pc:spChg>
      </pc:sldChg>
    </pc:docChg>
  </pc:docChgLst>
  <pc:docChgLst>
    <pc:chgData name="Manabendra Saharia" userId="372721ec-1061-4aab-aad5-5c82bbad8310" providerId="ADAL" clId="{A7029F6F-5F4A-6C43-B689-7966CF571C5B}"/>
    <pc:docChg chg="addSld delSld modSld">
      <pc:chgData name="Manabendra Saharia" userId="372721ec-1061-4aab-aad5-5c82bbad8310" providerId="ADAL" clId="{A7029F6F-5F4A-6C43-B689-7966CF571C5B}" dt="2023-09-24T06:36:14.649" v="37" actId="2696"/>
      <pc:docMkLst>
        <pc:docMk/>
      </pc:docMkLst>
      <pc:sldChg chg="modSp mod">
        <pc:chgData name="Manabendra Saharia" userId="372721ec-1061-4aab-aad5-5c82bbad8310" providerId="ADAL" clId="{A7029F6F-5F4A-6C43-B689-7966CF571C5B}" dt="2023-09-24T06:36:12.794" v="36" actId="20577"/>
        <pc:sldMkLst>
          <pc:docMk/>
          <pc:sldMk cId="2151882148" sldId="318"/>
        </pc:sldMkLst>
        <pc:spChg chg="mod">
          <ac:chgData name="Manabendra Saharia" userId="372721ec-1061-4aab-aad5-5c82bbad8310" providerId="ADAL" clId="{A7029F6F-5F4A-6C43-B689-7966CF571C5B}" dt="2023-09-24T06:36:12.794" v="36" actId="20577"/>
          <ac:spMkLst>
            <pc:docMk/>
            <pc:sldMk cId="2151882148" sldId="318"/>
            <ac:spMk id="3" creationId="{A18FA631-E5DE-38FB-3631-5247D3FA94E0}"/>
          </ac:spMkLst>
        </pc:spChg>
      </pc:sldChg>
      <pc:sldChg chg="add del">
        <pc:chgData name="Manabendra Saharia" userId="372721ec-1061-4aab-aad5-5c82bbad8310" providerId="ADAL" clId="{A7029F6F-5F4A-6C43-B689-7966CF571C5B}" dt="2023-09-24T06:36:14.649" v="37" actId="2696"/>
        <pc:sldMkLst>
          <pc:docMk/>
          <pc:sldMk cId="2845196125" sldId="322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EDE0417-F54B-42B9-B6DD-E7EE48A4B191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FA6F960-9BDB-45A8-91C0-D79A73FD2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5011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8E55364-5615-482A-B28A-5F5A5326E070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3E7B7E7-1BE7-4EFB-A4DD-874CE1CF9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46535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04A0B9-D83A-4722-A17F-DC0228F239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4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485" y="1105627"/>
            <a:ext cx="11859027" cy="5156627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6485" y="218261"/>
            <a:ext cx="10692015" cy="556112"/>
          </a:xfr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027986" y="52448"/>
            <a:ext cx="997527" cy="997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753256-96F0-BF95-9F7A-0DF59CD83CB3}"/>
              </a:ext>
            </a:extLst>
          </p:cNvPr>
          <p:cNvSpPr/>
          <p:nvPr userDrawn="1"/>
        </p:nvSpPr>
        <p:spPr>
          <a:xfrm>
            <a:off x="0" y="6572250"/>
            <a:ext cx="12192000" cy="280843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401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0030" y="6533886"/>
            <a:ext cx="521970" cy="307777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42B7CED-DC51-4976-975C-28F89E3EDFC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88356" y="6550223"/>
            <a:ext cx="8015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Industry, Continuing Education Programme, Indian Institute of Technology Delhi</a:t>
            </a:r>
            <a:endParaRPr lang="en-IN" sz="1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27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6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AI/ML for Industry Capstone | IIT Delhi CEP</a:t>
            </a:r>
            <a:endParaRPr lang="en-US"/>
          </a:p>
          <a:p>
            <a:pPr>
              <a:defRPr sz="1800"/>
            </a:pPr>
            <a:r>
              <a:t>From data pipeline to explainable deployment: Baseline/ML/DL models, API, UI, and NLP layer.</a:t>
            </a:r>
          </a:p>
          <a:p>
            <a:pPr>
              <a:defRPr sz="1800"/>
            </a:pPr>
            <a:r>
              <a:t>Author: Ashraf | Date: Apr 2026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876980-17C6-FEBF-97F0-4FD8C8D6B2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222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  <a:noFill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097280" y="844952"/>
            <a:ext cx="10058400" cy="19410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t>MovieMind: End-to-End Movie Recommendation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722B18-C738-E15E-ECEA-0838DA7DB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5369748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Continuing Education Programme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Indian Institute of Technology Delhi</a:t>
            </a:r>
          </a:p>
          <a:p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8B105-07B1-0535-6D75-4940D7E6E42A}"/>
              </a:ext>
            </a:extLst>
          </p:cNvPr>
          <p:cNvSpPr txBox="1">
            <a:spLocks/>
          </p:cNvSpPr>
          <p:nvPr/>
        </p:nvSpPr>
        <p:spPr>
          <a:xfrm>
            <a:off x="1097280" y="2785957"/>
            <a:ext cx="10058400" cy="1126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Name</a:t>
            </a:r>
          </a:p>
          <a:p>
            <a:endParaRPr lang="en-US" sz="28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X/X</a:t>
            </a:r>
            <a:r>
              <a:rPr lang="en-US" sz="2200" b="1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/202X</a:t>
            </a:r>
            <a:endParaRPr lang="en-US" sz="22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7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Why this project</a:t>
            </a:r>
            <a:endParaRPr lang="en-US" dirty="0"/>
          </a:p>
          <a:p>
            <a:pPr>
              <a:defRPr sz="1600"/>
            </a:pPr>
            <a:r>
              <a:t>Recommendation systems face sparsity, long-tail catalogs, and cold-start constraints.</a:t>
            </a:r>
          </a:p>
          <a:p>
            <a:pPr>
              <a:defRPr sz="1600"/>
            </a:pPr>
            <a:r>
              <a:t>Capstone goal was to build a full lifecycle system: accurate, explainable, reproducible, and demo-ready.</a:t>
            </a:r>
          </a:p>
          <a:p>
            <a:pPr>
              <a:defRPr sz="1600"/>
            </a:pPr>
            <a:r>
              <a:t>Dataset: MovieLens 1M with ratings + user/movie metadata.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927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8DEAC-54BA-B583-6907-CCE100DD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1800"/>
            </a:pPr>
            <a:r>
              <a:t>Business + engineering objective</a:t>
            </a:r>
            <a:endParaRPr lang="en-US" dirty="0"/>
          </a:p>
          <a:p>
            <a:pPr>
              <a:defRPr sz="1600"/>
            </a:pPr>
            <a:r>
              <a:t>Predict user-movie ratings and generate top-N recommendations.</a:t>
            </a:r>
          </a:p>
          <a:p>
            <a:pPr>
              <a:defRPr sz="1600"/>
            </a:pPr>
            <a:r>
              <a:t>Compare Baseline, ML, DL, and Tuned DL with leakage-safe time-based evaluation.</a:t>
            </a:r>
          </a:p>
          <a:p>
            <a:pPr>
              <a:defRPr sz="1600"/>
            </a:pPr>
            <a:r>
              <a:t>Expose inspectable model metadata and recommendation logic in API + Streamlit UI.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50F7-CBC5-7E41-1D6A-EB517912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FCA93D-64BC-ADD3-BC93-C7E29E36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2813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Lifecycle implemented</a:t>
            </a:r>
            <a:endParaRPr lang="en-US" dirty="0"/>
          </a:p>
          <a:p>
            <a:pPr>
              <a:defRPr sz="1500"/>
            </a:pPr>
            <a:r>
              <a:t>Phases 1-8 completed: setup -&gt; EDA -&gt; features -&gt; ML -&gt; DL -&gt; post-analysis -&gt; API -&gt; UI/agent.</a:t>
            </a:r>
          </a:p>
          <a:p>
            <a:pPr>
              <a:defRPr sz="1500"/>
            </a:pPr>
            <a:r>
              <a:t>Critical modeling choice: strict time-based split to prevent leakage.</a:t>
            </a:r>
          </a:p>
          <a:p>
            <a:pPr>
              <a:defRPr sz="1500"/>
            </a:pPr>
            <a:r>
              <a:t>Stack: pandas, scikit-learn, PyTorch, Optuna, FastAPI, Streamlit.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Methodology, Dataset, and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Flow diagram source: evidence/presentation/ai_lifecycle_flow_diagram.md (Mermaid, horizontal LR)</a:t>
            </a:r>
          </a:p>
        </p:txBody>
      </p:sp>
    </p:spTree>
    <p:extLst>
      <p:ext uri="{BB962C8B-B14F-4D97-AF65-F5344CB8AC3E}">
        <p14:creationId xmlns:p14="http://schemas.microsoft.com/office/powerpoint/2010/main" val="215188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Results 1: Model Evaluation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Offline evaluation (time-based split): model-wise RMSE/MAE/time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Time (sec)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Outcome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 (Global 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Reference floor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Fast + strong baseline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Improves over linear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193.17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Champion (best error)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NCF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Below ML champion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NCF Tuned (Optuna + retrained weights)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DL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Trial-based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 DL, still behind GB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Decision: Gradient Boosting selected as primary model due to best RMSE/MAE under leakage-safe evaluation.</a:t>
            </a:r>
          </a:p>
        </p:txBody>
      </p:sp>
    </p:spTree>
    <p:extLst>
      <p:ext uri="{BB962C8B-B14F-4D97-AF65-F5344CB8AC3E}">
        <p14:creationId xmlns:p14="http://schemas.microsoft.com/office/powerpoint/2010/main" val="427174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Results 2: Tuned DL, Explainability, and Diversity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A) Tuned DL best hyperparameters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learning_rate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0.0054401120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embedding_dim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dropout_rate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0.4431288799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n_layers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n_units_l0/l1/l2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256 / 64 / 32</a:t>
                      </a:r>
                    </a:p>
                  </a:txBody>
                  <a:tcPr/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best_rmse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1.0061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960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B) Diversity slider logic in recommendation ranking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234440"/>
          <a:ext cx="55778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Control /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Definition / Role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diversity_alpha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User control: novelty vs relevance trade-off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adjusted_score = predicted_rating_raw - alpha * overlap_penalty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Debug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predicted_rating_raw, overlap_penalty, adjusted_score, overlap_genres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User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Higher alpha reduces repetitive genre overlap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 descr="feature_importance_to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3566160" cy="2213479"/>
          </a:xfrm>
          <a:prstGeom prst="rect">
            <a:avLst/>
          </a:prstGeom>
        </p:spPr>
      </p:pic>
      <p:pic>
        <p:nvPicPr>
          <p:cNvPr id="10" name="Picture 9" descr="pca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840480"/>
            <a:ext cx="3566160" cy="2297089"/>
          </a:xfrm>
          <a:prstGeom prst="rect">
            <a:avLst/>
          </a:prstGeom>
        </p:spPr>
      </p:pic>
      <p:pic>
        <p:nvPicPr>
          <p:cNvPr id="11" name="Picture 10" descr="tsne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840480"/>
            <a:ext cx="3108960" cy="20025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6217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Feature Importance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6217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PCA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6217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t-SNE Embeddings</a:t>
            </a:r>
          </a:p>
        </p:txBody>
      </p:sp>
    </p:spTree>
    <p:extLst>
      <p:ext uri="{BB962C8B-B14F-4D97-AF65-F5344CB8AC3E}">
        <p14:creationId xmlns:p14="http://schemas.microsoft.com/office/powerpoint/2010/main" val="225276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What was achieved</a:t>
            </a:r>
            <a:endParaRPr lang="en-US" dirty="0"/>
          </a:p>
          <a:p>
            <a:pPr>
              <a:defRPr sz="1400"/>
            </a:pPr>
            <a:r>
              <a:t>End-to-end lifecycle delivered with reproducible evidence and multi-model serving.</a:t>
            </a:r>
          </a:p>
          <a:p>
            <a:pPr>
              <a:defRPr sz="1400"/>
            </a:pPr>
            <a:r>
              <a:t>Champion model: Gradient Boosting; Tuned DL used for representation/analysis depth.</a:t>
            </a:r>
          </a:p>
          <a:p>
            <a:pPr>
              <a:defRPr sz="1400"/>
            </a:pPr>
            <a:r>
              <a:t>Diversity slider and taste-map added for controllable exploration and explainability.</a:t>
            </a:r>
          </a:p>
          <a:p>
            <a:pPr>
              <a:defRPr sz="1400"/>
            </a:pPr>
            <a:r>
              <a:t>Open item: dedicated cold-start strategy for brand-new users/items (future work).</a:t>
            </a:r>
          </a:p>
          <a:p>
            <a:pPr>
              <a:defRPr sz="1400"/>
            </a:pPr>
            <a:r>
              <a:t>Next: stronger local LLM integration and presentation/demo polish.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Conclusions and Next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291869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1) Why time-based split? -&gt; Prevents future-to-past leakage and gives honest evaluation.</a:t>
            </a:r>
          </a:p>
          <a:p>
            <a:pPr>
              <a:defRPr sz="1400"/>
            </a:pPr>
            <a:r>
              <a:t>2) Why Gradient Boosting champion? -&gt; Lowest RMSE/MAE among tested models.</a:t>
            </a:r>
          </a:p>
          <a:p>
            <a:pPr>
              <a:defRPr sz="1400"/>
            </a:pPr>
            <a:r>
              <a:t>3) Why keep DL then? -&gt; Better representation artifacts + future personalization extension.</a:t>
            </a:r>
          </a:p>
          <a:p>
            <a:pPr>
              <a:defRPr sz="1400"/>
            </a:pPr>
            <a:r>
              <a:t>4) What does diversity slider do? -&gt; Penalizes genre overlap via alpha-controlled reranking.</a:t>
            </a:r>
          </a:p>
          <a:p>
            <a:pPr>
              <a:defRPr sz="1400"/>
            </a:pPr>
            <a:r>
              <a:t>5) Is cold-start solved? -&gt; Not as dedicated module yet; tracked as future work.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(2-minute defense)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Insert screenshot from Streamlit Recommend tab (with selected model, top-N, diversity slider, and result cards).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Evidence: Recommend Page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[PLACEHOLDER IMAGE] Paste Recommend page screenshot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Tip: capture screen after clicking Get Recommendations so diversity/taste-map context is visible.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Evidence: Diversity Slider + Taste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Captured after clicking Get Recommendations with diversity slider set to a non-zero value.</a:t>
            </a:r>
          </a:p>
        </p:txBody>
      </p:sp>
      <p:pic>
        <p:nvPicPr>
          <p:cNvPr id="5" name="Picture 4" descr="recommend_diversity_slider_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577840" cy="6458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8932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Diversity slider and recommendation context</a:t>
            </a:r>
          </a:p>
        </p:txBody>
      </p:sp>
      <p:pic>
        <p:nvPicPr>
          <p:cNvPr id="7" name="Picture 6" descr="recommend_taste_map_full_cl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554480"/>
            <a:ext cx="5577840" cy="6458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98932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Full Taste Map view (not cropped)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602</TotalTime>
  <Words>42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Garamond</vt:lpstr>
      <vt:lpstr>Lato</vt:lpstr>
      <vt:lpstr>Office Theme</vt:lpstr>
      <vt:lpstr>Project Title</vt:lpstr>
      <vt:lpstr>Background</vt:lpstr>
      <vt:lpstr>Problem Statement</vt:lpstr>
      <vt:lpstr>Methodology, Datasets, and Tools used</vt:lpstr>
      <vt:lpstr>Results 1</vt:lpstr>
      <vt:lpstr>Results 2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RESPOND PROJECT</dc:title>
  <dc:creator>Ankita</dc:creator>
  <cp:lastModifiedBy>Ekta Srivastava</cp:lastModifiedBy>
  <cp:revision>91</cp:revision>
  <cp:lastPrinted>2021-11-16T14:38:43Z</cp:lastPrinted>
  <dcterms:created xsi:type="dcterms:W3CDTF">2016-11-08T06:06:47Z</dcterms:created>
  <dcterms:modified xsi:type="dcterms:W3CDTF">2024-11-11T05:07:44Z</dcterms:modified>
</cp:coreProperties>
</file>